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Plus Jakarta Sans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19" Type="http://schemas.openxmlformats.org/officeDocument/2006/relationships/font" Target="fonts/PlusJakartaSans-boldItalic.fntdata"/><Relationship Id="rId18" Type="http://schemas.openxmlformats.org/officeDocument/2006/relationships/font" Target="fonts/PlusJakarta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146e3f1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146e3f1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146e3f10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146e3f10f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17243561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1724356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0.png"/><Relationship Id="rId13" Type="http://schemas.openxmlformats.org/officeDocument/2006/relationships/image" Target="../media/image2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16.png"/><Relationship Id="rId22" Type="http://schemas.openxmlformats.org/officeDocument/2006/relationships/image" Target="../media/image2.png"/><Relationship Id="rId10" Type="http://schemas.openxmlformats.org/officeDocument/2006/relationships/image" Target="../media/image23.png"/><Relationship Id="rId21" Type="http://schemas.openxmlformats.org/officeDocument/2006/relationships/image" Target="../media/image53.png"/><Relationship Id="rId13" Type="http://schemas.openxmlformats.org/officeDocument/2006/relationships/image" Target="../media/image26.png"/><Relationship Id="rId12" Type="http://schemas.openxmlformats.org/officeDocument/2006/relationships/image" Target="../media/image21.png"/><Relationship Id="rId2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15" Type="http://schemas.openxmlformats.org/officeDocument/2006/relationships/image" Target="../media/image34.png"/><Relationship Id="rId14" Type="http://schemas.openxmlformats.org/officeDocument/2006/relationships/image" Target="../media/image39.png"/><Relationship Id="rId17" Type="http://schemas.openxmlformats.org/officeDocument/2006/relationships/image" Target="../media/image17.png"/><Relationship Id="rId16" Type="http://schemas.openxmlformats.org/officeDocument/2006/relationships/image" Target="../media/image37.png"/><Relationship Id="rId5" Type="http://schemas.openxmlformats.org/officeDocument/2006/relationships/image" Target="../media/image13.png"/><Relationship Id="rId19" Type="http://schemas.openxmlformats.org/officeDocument/2006/relationships/image" Target="../media/image19.png"/><Relationship Id="rId6" Type="http://schemas.openxmlformats.org/officeDocument/2006/relationships/image" Target="../media/image12.png"/><Relationship Id="rId18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Relationship Id="rId9" Type="http://schemas.openxmlformats.org/officeDocument/2006/relationships/image" Target="../media/image3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2.png"/><Relationship Id="rId22" Type="http://schemas.openxmlformats.org/officeDocument/2006/relationships/image" Target="../media/image41.png"/><Relationship Id="rId21" Type="http://schemas.openxmlformats.org/officeDocument/2006/relationships/image" Target="../media/image43.png"/><Relationship Id="rId24" Type="http://schemas.openxmlformats.org/officeDocument/2006/relationships/image" Target="../media/image64.png"/><Relationship Id="rId23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36.png"/><Relationship Id="rId25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7.png"/><Relationship Id="rId11" Type="http://schemas.openxmlformats.org/officeDocument/2006/relationships/image" Target="../media/image31.png"/><Relationship Id="rId10" Type="http://schemas.openxmlformats.org/officeDocument/2006/relationships/image" Target="../media/image32.png"/><Relationship Id="rId13" Type="http://schemas.openxmlformats.org/officeDocument/2006/relationships/image" Target="../media/image47.png"/><Relationship Id="rId12" Type="http://schemas.openxmlformats.org/officeDocument/2006/relationships/image" Target="../media/image35.png"/><Relationship Id="rId15" Type="http://schemas.openxmlformats.org/officeDocument/2006/relationships/image" Target="../media/image66.png"/><Relationship Id="rId14" Type="http://schemas.openxmlformats.org/officeDocument/2006/relationships/image" Target="../media/image48.png"/><Relationship Id="rId17" Type="http://schemas.openxmlformats.org/officeDocument/2006/relationships/image" Target="../media/image65.png"/><Relationship Id="rId16" Type="http://schemas.openxmlformats.org/officeDocument/2006/relationships/image" Target="../media/image45.png"/><Relationship Id="rId19" Type="http://schemas.openxmlformats.org/officeDocument/2006/relationships/image" Target="../media/image62.png"/><Relationship Id="rId18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51.png"/><Relationship Id="rId7" Type="http://schemas.openxmlformats.org/officeDocument/2006/relationships/image" Target="../media/image54.png"/><Relationship Id="rId8" Type="http://schemas.openxmlformats.org/officeDocument/2006/relationships/image" Target="../media/image61.png"/><Relationship Id="rId11" Type="http://schemas.openxmlformats.org/officeDocument/2006/relationships/image" Target="../media/image58.png"/><Relationship Id="rId10" Type="http://schemas.openxmlformats.org/officeDocument/2006/relationships/image" Target="../media/image8.png"/><Relationship Id="rId13" Type="http://schemas.openxmlformats.org/officeDocument/2006/relationships/image" Target="../media/image55.png"/><Relationship Id="rId12" Type="http://schemas.openxmlformats.org/officeDocument/2006/relationships/image" Target="../media/image63.png"/><Relationship Id="rId15" Type="http://schemas.openxmlformats.org/officeDocument/2006/relationships/image" Target="../media/image2.png"/><Relationship Id="rId14" Type="http://schemas.openxmlformats.org/officeDocument/2006/relationships/image" Target="../media/image59.png"/><Relationship Id="rId1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006200"/>
            <a:ext cx="5472000" cy="35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6264" y="2006200"/>
            <a:ext cx="5333661" cy="35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206253"/>
            <a:ext cx="18669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0825" y="2728784"/>
            <a:ext cx="2367071" cy="1227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9217" y="2728784"/>
            <a:ext cx="2367071" cy="1227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0825" y="4127900"/>
            <a:ext cx="2367075" cy="110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69225" y="4127900"/>
            <a:ext cx="2367075" cy="110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5" y="6038850"/>
            <a:ext cx="10953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390650" y="2615803"/>
            <a:ext cx="4935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Conversational Wayfinding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62025" y="3073000"/>
            <a:ext cx="480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CampusGo is a conversational AI agent designed to guide you exactly like a friendly upperclassman would. No complex map interfaces, no pins on an abstract drawing.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62025" y="4201075"/>
            <a:ext cx="4804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transforming raw geographical datasets into natural, landmarks-based step-by-step guidance, CampusGo understands </a:t>
            </a:r>
            <a:r>
              <a:rPr b="1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where you are, what you need, and how you want to get there.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964836" y="2227855"/>
            <a:ext cx="46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Who Is It For?</a:t>
            </a:r>
            <a:endParaRPr sz="1479"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37629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264914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0825" y="2214822"/>
            <a:ext cx="319797" cy="2512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6702145" y="2900105"/>
            <a:ext cx="21255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49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🌱 Freshmen</a:t>
            </a:r>
            <a:endParaRPr sz="177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6702145" y="3185639"/>
            <a:ext cx="2024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Navigating the transition and settling in without feeling lost.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9240537" y="2900105"/>
            <a:ext cx="21255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49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✈️ Exchange Students</a:t>
            </a:r>
            <a:endParaRPr sz="177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9240537" y="3185639"/>
            <a:ext cx="2024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Overcoming language/environmental barriers instantly.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702145" y="4299224"/>
            <a:ext cx="21255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49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💼 Visitors &amp; Staff</a:t>
            </a:r>
            <a:endParaRPr sz="177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702145" y="4584759"/>
            <a:ext cx="2024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Getting immediate directions to events or office spots.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9240537" y="4299224"/>
            <a:ext cx="21255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49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🎓 Students</a:t>
            </a:r>
            <a:endParaRPr sz="1779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240537" y="4584759"/>
            <a:ext cx="2024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Uncovering hidden gems like silent desks and study nooks.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1420517" y="6236817"/>
            <a:ext cx="2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-US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09600" y="6202675"/>
            <a:ext cx="3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CampusGo </a:t>
            </a:r>
            <a:r>
              <a:rPr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Microsoft Student Ambassador AI Agent Hackathon</a:t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523875" y="1022625"/>
            <a:ext cx="90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CampusGo: </a:t>
            </a:r>
            <a:r>
              <a:rPr b="1" lang="en-US" sz="30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Your Wayfinding Buddy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111" name="Google Shape;111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3875" y="4849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962025" y="531400"/>
            <a:ext cx="283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 AI Agent</a:t>
            </a:r>
            <a:endParaRPr/>
          </a:p>
        </p:txBody>
      </p:sp>
      <p:pic>
        <p:nvPicPr>
          <p:cNvPr descr="image.png" id="113" name="Google Shape;113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9600" y="5707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523875" y="1555150"/>
            <a:ext cx="88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Problem Statements: Student Campus Experience</a:t>
            </a:r>
            <a:endParaRPr b="1" sz="1200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840750"/>
            <a:ext cx="5841275" cy="389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1100" y="1497300"/>
            <a:ext cx="4953000" cy="423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350" y="2414800"/>
            <a:ext cx="5323274" cy="101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100" y="3866850"/>
            <a:ext cx="5323274" cy="163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6038850"/>
            <a:ext cx="10953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1071512" y="2001873"/>
            <a:ext cx="538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STRUCTURAL NAVIGATION GAP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7578506" y="2038207"/>
            <a:ext cx="383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Real-World Frustrations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27" name="Google Shape;12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00" y="2020923"/>
            <a:ext cx="13811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2263" y="2603018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/>
          <p:nvPr/>
        </p:nvSpPr>
        <p:spPr>
          <a:xfrm>
            <a:off x="3649265" y="3636615"/>
            <a:ext cx="19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0031" y="406105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97506" y="206678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3237" y="269678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1544250" y="2557673"/>
            <a:ext cx="495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Building-Level Navigation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544250" y="2859300"/>
            <a:ext cx="42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Fully covered by standard GPS,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excellent in finding big buildings, </a:t>
            </a: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but not the facilities inside of them.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35" name="Google Shape;135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55739" y="3769965"/>
            <a:ext cx="93464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85281" y="41563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1552006" y="4009713"/>
            <a:ext cx="495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Lack of </a:t>
            </a:r>
            <a:r>
              <a:rPr b="1" i="0" lang="en-US" sz="17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Micro-Facility Navigation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552006" y="4311348"/>
            <a:ext cx="4208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s</a:t>
            </a: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urvey show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84% of respondent</a:t>
            </a: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who to campus have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idea</a:t>
            </a: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where are the facilities inside those big buildings.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Restrooms,study spaces, printer, or water dispenser </a:t>
            </a: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remain completely unmapped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39" name="Google Shape;139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52706" y="240148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146706" y="348123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146706" y="456103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52718" y="2487207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7571806" y="2401482"/>
            <a:ext cx="371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Social Barriers &amp; Anxiety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7571800" y="2659125"/>
            <a:ext cx="381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Introverted students dread stopping busy strangers or asking awkward, minor spatial questions.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45" name="Google Shape;145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13381" y="3566964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7565806" y="3481239"/>
            <a:ext cx="371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Effective Communication</a:t>
            </a:r>
            <a:endParaRPr sz="17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7565800" y="3785385"/>
            <a:ext cx="381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International &amp; exchange students struggle to articulate specific spatial queries in local languages.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48" name="Google Shape;148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239231" y="4646758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7565806" y="4568520"/>
            <a:ext cx="371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Wasted Daily Productivity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7565800" y="4858382"/>
            <a:ext cx="381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Students waste valuable short breaks wandering around for a functional printer or water outlet.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619125" y="742950"/>
            <a:ext cx="552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152" name="Google Shape;152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509277" y="3515105"/>
            <a:ext cx="2060978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/>
        </p:nvSpPr>
        <p:spPr>
          <a:xfrm>
            <a:off x="11420517" y="6236817"/>
            <a:ext cx="2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-US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609600" y="6202675"/>
            <a:ext cx="3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CampusGo </a:t>
            </a:r>
            <a:r>
              <a:rPr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Microsoft Student Ambassador AI Agent Hackathon</a:t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523875" y="1104900"/>
            <a:ext cx="584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Campus Wayfinding </a:t>
            </a:r>
            <a:r>
              <a:rPr b="1" lang="en-US" sz="255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Blindspot</a:t>
            </a:r>
            <a:endParaRPr b="1" sz="255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156" name="Google Shape;156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23875" y="42862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 txBox="1"/>
          <p:nvPr/>
        </p:nvSpPr>
        <p:spPr>
          <a:xfrm>
            <a:off x="962025" y="447675"/>
            <a:ext cx="283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 AI Agent</a:t>
            </a:r>
            <a:endParaRPr/>
          </a:p>
        </p:txBody>
      </p:sp>
      <p:pic>
        <p:nvPicPr>
          <p:cNvPr descr="image.png" id="158" name="Google Shape;158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09600" y="5143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4"/>
          <p:cNvSpPr txBox="1"/>
          <p:nvPr/>
        </p:nvSpPr>
        <p:spPr>
          <a:xfrm>
            <a:off x="7146700" y="1605625"/>
            <a:ext cx="5323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What can our Agent Solve?</a:t>
            </a:r>
            <a:endParaRPr b="1" sz="215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/>
          <p:nvPr/>
        </p:nvSpPr>
        <p:spPr>
          <a:xfrm>
            <a:off x="5630844" y="4587890"/>
            <a:ext cx="5972100" cy="8991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5630856" y="3482799"/>
            <a:ext cx="5972100" cy="8991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5630844" y="2377690"/>
            <a:ext cx="5972100" cy="8991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419" y="5972886"/>
            <a:ext cx="111442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5"/>
          <p:cNvSpPr txBox="1"/>
          <p:nvPr/>
        </p:nvSpPr>
        <p:spPr>
          <a:xfrm>
            <a:off x="495419" y="1062215"/>
            <a:ext cx="683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Feature 1: </a:t>
            </a:r>
            <a:r>
              <a:rPr b="1" i="0" lang="en-US" sz="25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Direct Facility Navigation</a:t>
            </a:r>
            <a:endParaRPr>
              <a:solidFill>
                <a:srgbClr val="2563EB"/>
              </a:solidFill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495344" y="1563640"/>
            <a:ext cx="946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ncover precise, micro-level campus assets using real-time conversational routing instructions.</a:t>
            </a:r>
            <a:endParaRPr sz="1500"/>
          </a:p>
        </p:txBody>
      </p:sp>
      <p:sp>
        <p:nvSpPr>
          <p:cNvPr id="171" name="Google Shape;171;p15"/>
          <p:cNvSpPr txBox="1"/>
          <p:nvPr/>
        </p:nvSpPr>
        <p:spPr>
          <a:xfrm>
            <a:off x="495419" y="6115761"/>
            <a:ext cx="3813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25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1392060" y="6066078"/>
            <a:ext cx="2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-US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pic>
        <p:nvPicPr>
          <p:cNvPr descr="image.png" id="173" name="Google Shape;1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419" y="47129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 txBox="1"/>
          <p:nvPr/>
        </p:nvSpPr>
        <p:spPr>
          <a:xfrm>
            <a:off x="933569" y="490340"/>
            <a:ext cx="283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 AI Agent</a:t>
            </a:r>
            <a:endParaRPr/>
          </a:p>
        </p:txBody>
      </p:sp>
      <p:pic>
        <p:nvPicPr>
          <p:cNvPr descr="image.png" id="175" name="Google Shape;17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144" y="55701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02007" y="2524525"/>
            <a:ext cx="157940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/>
          <p:nvPr/>
        </p:nvSpPr>
        <p:spPr>
          <a:xfrm>
            <a:off x="6114792" y="2502748"/>
            <a:ext cx="5549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Navigating the "Unmapped" Areas</a:t>
            </a:r>
            <a:endParaRPr sz="1500"/>
          </a:p>
        </p:txBody>
      </p:sp>
      <p:sp>
        <p:nvSpPr>
          <p:cNvPr id="178" name="Google Shape;178;p15"/>
          <p:cNvSpPr txBox="1"/>
          <p:nvPr/>
        </p:nvSpPr>
        <p:spPr>
          <a:xfrm>
            <a:off x="6114792" y="2775202"/>
            <a:ext cx="5284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Locates micro-facilities 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typically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omitted by 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traditional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maps (e.g. restrooms, drinking fountains, printers, specific power outlets) directly linked to local metadata.</a:t>
            </a:r>
            <a:endParaRPr sz="1100"/>
          </a:p>
        </p:txBody>
      </p:sp>
      <p:pic>
        <p:nvPicPr>
          <p:cNvPr descr="image.png" id="179" name="Google Shape;17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02007" y="3608615"/>
            <a:ext cx="157940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6114792" y="3605802"/>
            <a:ext cx="5549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Step-by-Step Guidance</a:t>
            </a:r>
            <a:endParaRPr sz="1300"/>
          </a:p>
        </p:txBody>
      </p:sp>
      <p:sp>
        <p:nvSpPr>
          <p:cNvPr id="181" name="Google Shape;181;p15"/>
          <p:cNvSpPr txBox="1"/>
          <p:nvPr/>
        </p:nvSpPr>
        <p:spPr>
          <a:xfrm>
            <a:off x="6114794" y="3866715"/>
            <a:ext cx="5284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 navigates with relational reference points and 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description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each step</a:t>
            </a: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feeling like a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 personal guide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your side.</a:t>
            </a:r>
            <a:endParaRPr sz="1100"/>
          </a:p>
        </p:txBody>
      </p:sp>
      <p:pic>
        <p:nvPicPr>
          <p:cNvPr descr="image.png" id="182" name="Google Shape;18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2672665">
            <a:off x="5778151" y="4722645"/>
            <a:ext cx="221222" cy="17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6114792" y="4701185"/>
            <a:ext cx="540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Zero-Disorientation Safeguard</a:t>
            </a:r>
            <a:endParaRPr sz="1300"/>
          </a:p>
        </p:txBody>
      </p:sp>
      <p:sp>
        <p:nvSpPr>
          <p:cNvPr id="184" name="Google Shape;184;p15"/>
          <p:cNvSpPr txBox="1"/>
          <p:nvPr/>
        </p:nvSpPr>
        <p:spPr>
          <a:xfrm>
            <a:off x="6114792" y="4969740"/>
            <a:ext cx="5284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Combines colloquial descriptions with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marked </a:t>
            </a:r>
            <a:r>
              <a:rPr lang="en-US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map links for dual-assurance navigation. Maximizes adoption rate and provides continuous guidance reassurance.</a:t>
            </a:r>
            <a:endParaRPr sz="1100"/>
          </a:p>
        </p:txBody>
      </p:sp>
      <p:pic>
        <p:nvPicPr>
          <p:cNvPr id="185" name="Google Shape;185;p15" title="截屏2026-06-16 下午9.50.06.png"/>
          <p:cNvPicPr preferRelativeResize="0"/>
          <p:nvPr/>
        </p:nvPicPr>
        <p:blipFill rotWithShape="1">
          <a:blip r:embed="rId10">
            <a:alphaModFix/>
          </a:blip>
          <a:srcRect b="589" l="3372" r="1895" t="2924"/>
          <a:stretch/>
        </p:blipFill>
        <p:spPr>
          <a:xfrm>
            <a:off x="495419" y="1943190"/>
            <a:ext cx="4856400" cy="39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 txBox="1"/>
          <p:nvPr/>
        </p:nvSpPr>
        <p:spPr>
          <a:xfrm>
            <a:off x="581144" y="6031936"/>
            <a:ext cx="3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CampusGo </a:t>
            </a:r>
            <a:r>
              <a:rPr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Microsoft Student Ambassador AI Agent Hackathon</a:t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7" name="Google Shape;187;p15" title="Adobe Express - fil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92769" y="1066832"/>
            <a:ext cx="1587625" cy="430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6143625"/>
            <a:ext cx="111444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523875" y="1104900"/>
            <a:ext cx="7580700" cy="39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Feature 2: </a:t>
            </a:r>
            <a:r>
              <a:rPr b="1" lang="en-US" sz="255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Contextual Recommendation</a:t>
            </a:r>
            <a:endParaRPr b="1" sz="255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529267" y="1579715"/>
            <a:ext cx="125877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Going beyond exact keyword queries to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recommending customized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places based on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 needs</a:t>
            </a:r>
            <a:endParaRPr b="0"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6" name="Google Shape;19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428625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/>
        </p:nvSpPr>
        <p:spPr>
          <a:xfrm>
            <a:off x="962025" y="447675"/>
            <a:ext cx="26388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 AI Agent</a:t>
            </a:r>
            <a:endParaRPr b="1" sz="15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5143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 txBox="1"/>
          <p:nvPr/>
        </p:nvSpPr>
        <p:spPr>
          <a:xfrm>
            <a:off x="11420517" y="6236817"/>
            <a:ext cx="2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-US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09600" y="6202675"/>
            <a:ext cx="3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CampusGo </a:t>
            </a:r>
            <a:r>
              <a:rPr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Microsoft Student Ambassador AI Agent Hackathon</a:t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01" name="Google Shape;201;p16" title="Adobe Express - file_副本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9202" y="1106424"/>
            <a:ext cx="1426172" cy="443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3175" y="1915809"/>
            <a:ext cx="5548312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1783" y="1912105"/>
            <a:ext cx="5548312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8525" y="205705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1333" y="204545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95200" y="212373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 txBox="1"/>
          <p:nvPr/>
        </p:nvSpPr>
        <p:spPr>
          <a:xfrm>
            <a:off x="6931825" y="2039634"/>
            <a:ext cx="339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STANDARD MAP SEARCH (FAILS ABSTRACT QUERIES)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6931825" y="2211079"/>
            <a:ext cx="4290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Only accepts direct questions like:</a:t>
            </a:r>
            <a:r>
              <a:rPr b="0" i="1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"Tell me where the main library is."</a:t>
            </a:r>
            <a:endParaRPr/>
          </a:p>
        </p:txBody>
      </p:sp>
      <p:pic>
        <p:nvPicPr>
          <p:cNvPr descr="image.png" id="209" name="Google Shape;20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8008" y="211213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 txBox="1"/>
          <p:nvPr/>
        </p:nvSpPr>
        <p:spPr>
          <a:xfrm>
            <a:off x="1160433" y="2035930"/>
            <a:ext cx="363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6CF4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b="1" lang="en-US" sz="900">
                <a:solidFill>
                  <a:srgbClr val="066CF4"/>
                </a:solidFill>
                <a:latin typeface="Poppins"/>
                <a:ea typeface="Poppins"/>
                <a:cs typeface="Poppins"/>
                <a:sym typeface="Poppins"/>
              </a:rPr>
              <a:t>ampusGo </a:t>
            </a:r>
            <a:r>
              <a:rPr b="1" i="0" lang="en-US" sz="900" u="none" cap="none" strike="noStrike">
                <a:solidFill>
                  <a:srgbClr val="066CF4"/>
                </a:solidFill>
                <a:latin typeface="Poppins"/>
                <a:ea typeface="Poppins"/>
                <a:cs typeface="Poppins"/>
                <a:sym typeface="Poppins"/>
              </a:rPr>
              <a:t>SMART INTENT (PARSES UNDERLYING NEED)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160417" y="2207375"/>
            <a:ext cx="4767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Questions like: </a:t>
            </a:r>
            <a:r>
              <a:rPr b="0" i="1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i="1" lang="en-US" sz="9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0" i="1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US" sz="9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have a class at AAB and wants a place to sit</a:t>
            </a:r>
            <a:r>
              <a:rPr b="0" i="1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/>
          </a:p>
        </p:txBody>
      </p:sp>
      <p:pic>
        <p:nvPicPr>
          <p:cNvPr descr="image.png" id="212" name="Google Shape;212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3875" y="2574075"/>
            <a:ext cx="5691175" cy="3461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41871" y="2588639"/>
            <a:ext cx="5655181" cy="385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41871" y="2974585"/>
            <a:ext cx="5655181" cy="3046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57825" y="3583100"/>
            <a:ext cx="4290300" cy="212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57821" y="2716074"/>
            <a:ext cx="178271" cy="11651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 txBox="1"/>
          <p:nvPr/>
        </p:nvSpPr>
        <p:spPr>
          <a:xfrm>
            <a:off x="1026071" y="2690587"/>
            <a:ext cx="17526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6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CampusGo M365 Copilot</a:t>
            </a:r>
            <a:endParaRPr sz="1115"/>
          </a:p>
        </p:txBody>
      </p:sp>
      <p:pic>
        <p:nvPicPr>
          <p:cNvPr descr="image.png" id="218" name="Google Shape;218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22240" y="3264273"/>
            <a:ext cx="98977" cy="8738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6"/>
          <p:cNvSpPr txBox="1"/>
          <p:nvPr/>
        </p:nvSpPr>
        <p:spPr>
          <a:xfrm>
            <a:off x="3353719" y="3236738"/>
            <a:ext cx="24654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6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"I have a class at AAB and wants a place to sit."</a:t>
            </a:r>
            <a:endParaRPr b="1" sz="1215"/>
          </a:p>
        </p:txBody>
      </p:sp>
      <p:sp>
        <p:nvSpPr>
          <p:cNvPr id="220" name="Google Shape;220;p16"/>
          <p:cNvSpPr/>
          <p:nvPr/>
        </p:nvSpPr>
        <p:spPr>
          <a:xfrm>
            <a:off x="946775" y="5306975"/>
            <a:ext cx="1831800" cy="285900"/>
          </a:xfrm>
          <a:prstGeom prst="roundRect">
            <a:avLst>
              <a:gd fmla="val 207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36400" lIns="72850" spcFirstLastPara="1" rIns="72850" wrap="square" tIns="36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208529" y="5384600"/>
            <a:ext cx="15702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7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Google Maps Live Route to AAB</a:t>
            </a:r>
            <a:endParaRPr b="1" sz="1215"/>
          </a:p>
        </p:txBody>
      </p:sp>
      <p:pic>
        <p:nvPicPr>
          <p:cNvPr descr="image.png" id="222" name="Google Shape;222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46777" y="3765753"/>
            <a:ext cx="125971" cy="10194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/>
        </p:nvSpPr>
        <p:spPr>
          <a:xfrm>
            <a:off x="1136835" y="3743907"/>
            <a:ext cx="14937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66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AAB 4 Self-Learning Area</a:t>
            </a:r>
            <a:endParaRPr b="1" i="1" sz="1215"/>
          </a:p>
        </p:txBody>
      </p:sp>
      <p:pic>
        <p:nvPicPr>
          <p:cNvPr descr="image.png" id="224" name="Google Shape;224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13996" y="5397210"/>
            <a:ext cx="125975" cy="11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303175" y="2628900"/>
            <a:ext cx="5548300" cy="339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475845" y="3210027"/>
            <a:ext cx="1680043" cy="124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237144" y="3210027"/>
            <a:ext cx="1680202" cy="124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998602" y="3210027"/>
            <a:ext cx="1680202" cy="124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475845" y="4576461"/>
            <a:ext cx="1680043" cy="124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237144" y="4576461"/>
            <a:ext cx="1680202" cy="124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998602" y="4576461"/>
            <a:ext cx="1680202" cy="124078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 txBox="1"/>
          <p:nvPr/>
        </p:nvSpPr>
        <p:spPr>
          <a:xfrm>
            <a:off x="6689152" y="2833075"/>
            <a:ext cx="381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6CF4"/>
                </a:solidFill>
                <a:latin typeface="Poppins"/>
                <a:ea typeface="Poppins"/>
                <a:cs typeface="Poppins"/>
                <a:sym typeface="Poppins"/>
              </a:rPr>
              <a:t>AI AGENT COGNITIVE PROCESSING PIPELINE</a:t>
            </a:r>
            <a:endParaRPr sz="1200"/>
          </a:p>
        </p:txBody>
      </p:sp>
      <p:sp>
        <p:nvSpPr>
          <p:cNvPr id="233" name="Google Shape;233;p16"/>
          <p:cNvSpPr txBox="1"/>
          <p:nvPr/>
        </p:nvSpPr>
        <p:spPr>
          <a:xfrm>
            <a:off x="6587573" y="3649799"/>
            <a:ext cx="14565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Identify Content</a:t>
            </a:r>
            <a:endParaRPr sz="1600"/>
          </a:p>
        </p:txBody>
      </p:sp>
      <p:sp>
        <p:nvSpPr>
          <p:cNvPr id="234" name="Google Shape;234;p16"/>
          <p:cNvSpPr txBox="1"/>
          <p:nvPr/>
        </p:nvSpPr>
        <p:spPr>
          <a:xfrm>
            <a:off x="6587573" y="3901097"/>
            <a:ext cx="145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Ingest raw conversational text query.</a:t>
            </a:r>
            <a:endParaRPr sz="1600"/>
          </a:p>
        </p:txBody>
      </p:sp>
      <p:sp>
        <p:nvSpPr>
          <p:cNvPr id="235" name="Google Shape;235;p16"/>
          <p:cNvSpPr txBox="1"/>
          <p:nvPr/>
        </p:nvSpPr>
        <p:spPr>
          <a:xfrm>
            <a:off x="8348872" y="3649799"/>
            <a:ext cx="14568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Detect Needs</a:t>
            </a:r>
            <a:endParaRPr sz="1600"/>
          </a:p>
        </p:txBody>
      </p:sp>
      <p:sp>
        <p:nvSpPr>
          <p:cNvPr id="236" name="Google Shape;236;p16"/>
          <p:cNvSpPr txBox="1"/>
          <p:nvPr/>
        </p:nvSpPr>
        <p:spPr>
          <a:xfrm>
            <a:off x="8348872" y="3901097"/>
            <a:ext cx="1456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Extract implicit intents like "waiting".</a:t>
            </a:r>
            <a:endParaRPr sz="1600"/>
          </a:p>
        </p:txBody>
      </p:sp>
      <p:sp>
        <p:nvSpPr>
          <p:cNvPr id="237" name="Google Shape;237;p16"/>
          <p:cNvSpPr txBox="1"/>
          <p:nvPr/>
        </p:nvSpPr>
        <p:spPr>
          <a:xfrm>
            <a:off x="10110330" y="3649799"/>
            <a:ext cx="14568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Understand Context</a:t>
            </a:r>
            <a:endParaRPr sz="1600"/>
          </a:p>
        </p:txBody>
      </p:sp>
      <p:sp>
        <p:nvSpPr>
          <p:cNvPr id="238" name="Google Shape;238;p16"/>
          <p:cNvSpPr txBox="1"/>
          <p:nvPr/>
        </p:nvSpPr>
        <p:spPr>
          <a:xfrm>
            <a:off x="10110330" y="3901097"/>
            <a:ext cx="1456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Map constraints &amp; relative buildings.</a:t>
            </a:r>
            <a:endParaRPr sz="1600"/>
          </a:p>
        </p:txBody>
      </p:sp>
      <p:sp>
        <p:nvSpPr>
          <p:cNvPr id="239" name="Google Shape;239;p16"/>
          <p:cNvSpPr txBox="1"/>
          <p:nvPr/>
        </p:nvSpPr>
        <p:spPr>
          <a:xfrm>
            <a:off x="6587573" y="5016232"/>
            <a:ext cx="14565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Match Locations</a:t>
            </a:r>
            <a:endParaRPr sz="1600"/>
          </a:p>
        </p:txBody>
      </p:sp>
      <p:sp>
        <p:nvSpPr>
          <p:cNvPr id="240" name="Google Shape;240;p16"/>
          <p:cNvSpPr txBox="1"/>
          <p:nvPr/>
        </p:nvSpPr>
        <p:spPr>
          <a:xfrm>
            <a:off x="6587573" y="5267530"/>
            <a:ext cx="145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Query DB to find optimal physical nodes.</a:t>
            </a:r>
            <a:endParaRPr sz="1600"/>
          </a:p>
        </p:txBody>
      </p:sp>
      <p:sp>
        <p:nvSpPr>
          <p:cNvPr id="241" name="Google Shape;241;p16"/>
          <p:cNvSpPr txBox="1"/>
          <p:nvPr/>
        </p:nvSpPr>
        <p:spPr>
          <a:xfrm>
            <a:off x="8348872" y="5016232"/>
            <a:ext cx="14568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Check Constraints</a:t>
            </a:r>
            <a:endParaRPr sz="1600"/>
          </a:p>
        </p:txBody>
      </p:sp>
      <p:sp>
        <p:nvSpPr>
          <p:cNvPr id="242" name="Google Shape;242;p16"/>
          <p:cNvSpPr txBox="1"/>
          <p:nvPr/>
        </p:nvSpPr>
        <p:spPr>
          <a:xfrm>
            <a:off x="8348872" y="5267530"/>
            <a:ext cx="1456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Verify operating hours &amp; printer utility.</a:t>
            </a:r>
            <a:endParaRPr sz="1600"/>
          </a:p>
        </p:txBody>
      </p:sp>
      <p:sp>
        <p:nvSpPr>
          <p:cNvPr id="243" name="Google Shape;243;p16"/>
          <p:cNvSpPr txBox="1"/>
          <p:nvPr/>
        </p:nvSpPr>
        <p:spPr>
          <a:xfrm>
            <a:off x="10110330" y="5016232"/>
            <a:ext cx="14568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Deliver Feedbacks</a:t>
            </a:r>
            <a:endParaRPr sz="1600"/>
          </a:p>
        </p:txBody>
      </p:sp>
      <p:sp>
        <p:nvSpPr>
          <p:cNvPr id="244" name="Google Shape;244;p16"/>
          <p:cNvSpPr txBox="1"/>
          <p:nvPr/>
        </p:nvSpPr>
        <p:spPr>
          <a:xfrm>
            <a:off x="10110330" y="5267530"/>
            <a:ext cx="1456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Compile step-by-step recommendation.</a:t>
            </a:r>
            <a:endParaRPr sz="1600"/>
          </a:p>
        </p:txBody>
      </p:sp>
      <p:sp>
        <p:nvSpPr>
          <p:cNvPr id="245" name="Google Shape;245;p16"/>
          <p:cNvSpPr txBox="1"/>
          <p:nvPr/>
        </p:nvSpPr>
        <p:spPr>
          <a:xfrm>
            <a:off x="6498825" y="3260462"/>
            <a:ext cx="57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1" i="1" sz="1600">
              <a:solidFill>
                <a:srgbClr val="066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 txBox="1"/>
          <p:nvPr/>
        </p:nvSpPr>
        <p:spPr>
          <a:xfrm>
            <a:off x="8271691" y="3264408"/>
            <a:ext cx="57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1" sz="1600">
              <a:solidFill>
                <a:srgbClr val="066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10013942" y="3264408"/>
            <a:ext cx="57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1" sz="1600">
              <a:solidFill>
                <a:srgbClr val="066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498413" y="4641354"/>
            <a:ext cx="57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1" sz="1600">
              <a:solidFill>
                <a:srgbClr val="066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8275320" y="4645152"/>
            <a:ext cx="57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1" sz="1600">
              <a:solidFill>
                <a:srgbClr val="066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10012680" y="4645152"/>
            <a:ext cx="57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1" lang="en-US" sz="1600">
                <a:solidFill>
                  <a:srgbClr val="066CF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1" sz="1600">
              <a:solidFill>
                <a:srgbClr val="066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17"/>
          <p:cNvCxnSpPr/>
          <p:nvPr/>
        </p:nvCxnSpPr>
        <p:spPr>
          <a:xfrm>
            <a:off x="2476500" y="3606800"/>
            <a:ext cx="381000" cy="126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17"/>
          <p:cNvCxnSpPr/>
          <p:nvPr/>
        </p:nvCxnSpPr>
        <p:spPr>
          <a:xfrm>
            <a:off x="8826500" y="3606800"/>
            <a:ext cx="507900" cy="126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17"/>
          <p:cNvSpPr/>
          <p:nvPr/>
        </p:nvSpPr>
        <p:spPr>
          <a:xfrm>
            <a:off x="533400" y="431800"/>
            <a:ext cx="330300" cy="3303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533400" y="2641600"/>
            <a:ext cx="1943100" cy="195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2857500" y="2222500"/>
            <a:ext cx="5969100" cy="31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2857500" y="2222500"/>
            <a:ext cx="59691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3136900" y="2984500"/>
            <a:ext cx="3365400" cy="7386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6845300" y="2984500"/>
            <a:ext cx="1701900" cy="7386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3136900" y="3822700"/>
            <a:ext cx="5410200" cy="12699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3302000" y="4089400"/>
            <a:ext cx="546000" cy="546000"/>
          </a:xfrm>
          <a:prstGeom prst="can">
            <a:avLst>
              <a:gd fmla="val 25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9334500" y="2641600"/>
            <a:ext cx="2286000" cy="19557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33400" y="6134100"/>
            <a:ext cx="11087100" cy="1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533400" y="444500"/>
            <a:ext cx="330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◈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965200" y="444500"/>
            <a:ext cx="241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 AI Agent</a:t>
            </a:r>
            <a:endParaRPr b="1" sz="15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533400" y="1054100"/>
            <a:ext cx="863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1" lang="en-US" sz="255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Knowledge-Grounded Guidance</a:t>
            </a:r>
            <a:endParaRPr b="1" sz="255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533400" y="15621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low-code Copilot Studio agent turns structured campus data into reliable, human-friendly directions.</a:t>
            </a:r>
            <a:endParaRPr sz="14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736600" y="2794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USER NEED</a:t>
            </a:r>
            <a:endParaRPr b="1" sz="110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736600" y="3149600"/>
            <a:ext cx="15495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“I’m in AAB. Where can I print before class?”</a:t>
            </a:r>
            <a:endParaRPr b="1" sz="145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736600" y="4203700"/>
            <a:ext cx="154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Natural-language request</a:t>
            </a:r>
            <a:endParaRPr sz="95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533400" y="6261100"/>
            <a:ext cx="546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CampusGo</a:t>
            </a:r>
            <a:r>
              <a:rPr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| Microsoft Student Ambassador AI Agent Hackathon</a:t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11099800" y="6248400"/>
            <a:ext cx="5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3136900" y="2387600"/>
            <a:ext cx="3365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MICROSOFT COPILOT STUDIO</a:t>
            </a:r>
            <a:endParaRPr b="1" sz="13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3136900" y="2654300"/>
            <a:ext cx="3174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New agent experience · Low-code</a:t>
            </a:r>
            <a:endParaRPr sz="10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6413500" y="24130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✓ Published to M365 Copilot Chat</a:t>
            </a:r>
            <a:endParaRPr b="1" sz="95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3302000" y="3073400"/>
            <a:ext cx="1397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INSTRUCTIONS</a:t>
            </a:r>
            <a:endParaRPr b="1" sz="105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3302000" y="3276600"/>
            <a:ext cx="3213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Persona · Location-first logic · Multilingual · Guardrails</a:t>
            </a:r>
            <a:endParaRPr sz="10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6953200" y="3067100"/>
            <a:ext cx="1016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TOOL</a:t>
            </a:r>
            <a:endParaRPr b="1" sz="105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6953200" y="3225850"/>
            <a:ext cx="1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current_Time</a:t>
            </a:r>
            <a:endParaRPr sz="108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Checks opening hours</a:t>
            </a:r>
            <a:endParaRPr sz="108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3302000" y="4127500"/>
            <a:ext cx="546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DB</a:t>
            </a:r>
            <a:endParaRPr b="1" sz="1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4013200" y="3949700"/>
            <a:ext cx="425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FACILITY KNOWLEDGE BASE</a:t>
            </a:r>
            <a:endParaRPr b="1" sz="13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4013200" y="4216400"/>
            <a:ext cx="42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BEAFE"/>
                </a:solidFill>
                <a:latin typeface="Lato"/>
                <a:ea typeface="Lato"/>
                <a:cs typeface="Lato"/>
                <a:sym typeface="Lato"/>
              </a:rPr>
              <a:t>MVP: AAB &amp; CVA · Schema designed for campus-wide expansion</a:t>
            </a:r>
            <a:endParaRPr b="1" sz="1050">
              <a:solidFill>
                <a:srgbClr val="DBEAF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17"/>
          <p:cNvSpPr txBox="1"/>
          <p:nvPr/>
        </p:nvSpPr>
        <p:spPr>
          <a:xfrm>
            <a:off x="4013200" y="4470400"/>
            <a:ext cx="4254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Building · Floor · Landmark · Route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Hours · Availability · Scenario · Map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9550400" y="2794000"/>
            <a:ext cx="18543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GROUNDED GUIDANCE</a:t>
            </a:r>
            <a:endParaRPr b="1" sz="1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9550400" y="3162300"/>
            <a:ext cx="18414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✓ Precise facility match</a:t>
            </a:r>
            <a:endParaRPr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✓ Landmark-based route</a:t>
            </a:r>
            <a:endParaRPr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✓ Context-aware answer</a:t>
            </a:r>
            <a:endParaRPr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✓ Confirmed fallback</a:t>
            </a:r>
            <a:endParaRPr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9550400" y="4241800"/>
            <a:ext cx="1841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93C5FD"/>
                </a:solidFill>
                <a:latin typeface="Lato"/>
                <a:ea typeface="Lato"/>
                <a:cs typeface="Lato"/>
                <a:sym typeface="Lato"/>
              </a:rPr>
              <a:t>Grounded, not guessed.</a:t>
            </a:r>
            <a:endParaRPr b="1" sz="980">
              <a:solidFill>
                <a:srgbClr val="93C5F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2857500" y="5461000"/>
            <a:ext cx="8763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Structured fields</a:t>
            </a:r>
            <a:r>
              <a:rPr lang="en-US" sz="11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enable exact lookup, intent-based matching and human-readable indoor guidance.</a:t>
            </a:r>
            <a:endParaRPr sz="11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804811"/>
            <a:ext cx="6667500" cy="3649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6650" y="1804800"/>
            <a:ext cx="4111550" cy="364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675" y="2823986"/>
            <a:ext cx="2943225" cy="1072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62400" y="2823986"/>
            <a:ext cx="2943225" cy="1072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4086644"/>
            <a:ext cx="2943225" cy="1072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62400" y="4086644"/>
            <a:ext cx="2943225" cy="1072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5799016"/>
            <a:ext cx="10953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8"/>
          <p:cNvSpPr txBox="1"/>
          <p:nvPr/>
        </p:nvSpPr>
        <p:spPr>
          <a:xfrm>
            <a:off x="7703875" y="2531325"/>
            <a:ext cx="3677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"</a:t>
            </a:r>
            <a: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CampusGo aims to maximize navigation efficiency for every soul who came to campus.</a:t>
            </a:r>
            <a:b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1"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is not just a digital map, but a friend who understands your need.</a:t>
            </a:r>
            <a:b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ltimately, we hope to </a:t>
            </a:r>
            <a:r>
              <a:rPr b="1" i="1"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connect thousands of users into a Crowd Marked &amp; Shared Navigation Web”.</a:t>
            </a:r>
            <a:endParaRPr b="1" i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7486600" y="1952838"/>
            <a:ext cx="400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OUR MISSION &amp; VISION</a:t>
            </a:r>
            <a:endParaRPr sz="18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828675" y="2100086"/>
            <a:ext cx="6380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🔧 Feasible, Reliable &amp; Ready to Deploy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828675" y="2414411"/>
            <a:ext cx="607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Ensuring highly robust operations with minimal development overhead.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1200150" y="2985911"/>
            <a:ext cx="2530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M365 Ecosystem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990600" y="3214511"/>
            <a:ext cx="26193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Built native within Teams and Outlook using Microsoft Copilot Studio. Zero third-party app installations required.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4352925" y="2985911"/>
            <a:ext cx="2510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2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Grounded &amp; Guardrailed</a:t>
            </a:r>
            <a:endParaRPr b="1" sz="1262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4124325" y="3214500"/>
            <a:ext cx="2349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Prioritizes structured facility records and returns a confirmed fallback when information is incomplete.</a:t>
            </a:r>
            <a:endParaRPr sz="107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1247775" y="4248569"/>
            <a:ext cx="2480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Multi-lingual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990600" y="4477169"/>
            <a:ext cx="26193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Native multi-language understanding backed by powerful LLM reasoning, perfect for international visitors.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4352925" y="4248569"/>
            <a:ext cx="2510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High Portability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4124325" y="4477169"/>
            <a:ext cx="26193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Campus-wide by design. The MVP covers AAB and CVA; the same schema can scale to every campus building.</a:t>
            </a:r>
            <a:endParaRPr sz="107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315" name="Google Shape;31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0600" y="3002580"/>
            <a:ext cx="133350" cy="147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124325" y="3002580"/>
            <a:ext cx="152400" cy="147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0600" y="4265237"/>
            <a:ext cx="180975" cy="147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124325" y="4265237"/>
            <a:ext cx="152400" cy="14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8"/>
          <p:cNvSpPr txBox="1"/>
          <p:nvPr/>
        </p:nvSpPr>
        <p:spPr>
          <a:xfrm>
            <a:off x="523875" y="5962841"/>
            <a:ext cx="381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CampusGo </a:t>
            </a:r>
            <a:r>
              <a:rPr lang="en-US"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Microsoft Student Ambassador AI Agent Hackathon</a:t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11334792" y="5996983"/>
            <a:ext cx="2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-US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523875" y="1104900"/>
            <a:ext cx="799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Operational</a:t>
            </a: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55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Feasibility</a:t>
            </a:r>
            <a:r>
              <a:rPr b="1" lang="en-US" sz="25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&amp; Future </a:t>
            </a:r>
            <a:r>
              <a:rPr b="1" lang="en-US" sz="255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Vision</a:t>
            </a:r>
            <a:endParaRPr b="1" sz="255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322" name="Google Shape;322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3875" y="42862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8"/>
          <p:cNvSpPr txBox="1"/>
          <p:nvPr/>
        </p:nvSpPr>
        <p:spPr>
          <a:xfrm>
            <a:off x="962025" y="447675"/>
            <a:ext cx="283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CampusGo AI Agent</a:t>
            </a:r>
            <a:endParaRPr/>
          </a:p>
        </p:txBody>
      </p:sp>
      <p:pic>
        <p:nvPicPr>
          <p:cNvPr descr="image.png" id="324" name="Google Shape;324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09600" y="5143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